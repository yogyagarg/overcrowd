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18"/>
    <p:sldId id="270" r:id="rId21"/>
    <p:sldId id="268" r:id="rId19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.xml"/><Relationship Id="rId19" Type="http://schemas.openxmlformats.org/officeDocument/2006/relationships/slide" Target="slides/slide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960120"/>
            <a:ext cx="411480" cy="411480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41080" y="1417320"/>
            <a:ext cx="411480" cy="411480"/>
          </a:xfrm>
          <a:prstGeom prst="ellipse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777240"/>
            <a:ext cx="411480" cy="411480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95560" y="1417320"/>
            <a:ext cx="411480" cy="411480"/>
          </a:xfrm>
          <a:prstGeom prst="ellipse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83879" y="2057400"/>
            <a:ext cx="411480" cy="411480"/>
          </a:xfrm>
          <a:prstGeom prst="ellipse">
            <a:avLst/>
          </a:prstGeom>
          <a:solidFill>
            <a:srgbClr val="907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0" y="2331720"/>
            <a:ext cx="411480" cy="411480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2240280"/>
            <a:ext cx="411480" cy="411480"/>
          </a:xfrm>
          <a:prstGeom prst="ellipse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789920" y="1828800"/>
            <a:ext cx="411480" cy="411480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926080"/>
            <a:ext cx="3520440" cy="164592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818120" y="2926080"/>
            <a:ext cx="2377440" cy="164592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8368"/>
            <a:ext cx="521208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200" b="1">
                <a:solidFill>
                  <a:srgbClr val="18AEA0"/>
                </a:solidFill>
                <a:latin typeface="Aptos"/>
              </a:defRPr>
            </a:pPr>
            <a:r>
              <a:t>CAMPUS CROWD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325880"/>
            <a:ext cx="6858000" cy="11430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OVERCROWD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06040"/>
            <a:ext cx="5943600" cy="82296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2400" b="1">
                <a:solidFill>
                  <a:srgbClr val="DAE4EF"/>
                </a:solidFill>
                <a:latin typeface="Aptos"/>
              </a:defRPr>
            </a:pPr>
            <a:r>
              <a:t>From overcrowding to</a:t>
            </a:r>
            <a:br/>
            <a:r>
              <a:t>coordinated 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886200"/>
            <a:ext cx="4480560" cy="73152"/>
          </a:xfrm>
          <a:prstGeom prst="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5760720" cy="7315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A unified approach for gyms, health centres, canteens, clubs and shared campus spaces.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080760"/>
            <a:ext cx="548640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100" b="0">
                <a:solidFill>
                  <a:srgbClr val="BECDDD"/>
                </a:solidFill>
                <a:latin typeface="Aptos"/>
              </a:defRPr>
            </a:pPr>
            <a:r>
              <a:t>A smarter campus starts with seeing the pressure.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2286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01  / 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2800" b="1">
                <a:solidFill>
                  <a:srgbClr val="121F35"/>
                </a:solidFill>
                <a:latin typeface="Aptos"/>
              </a:defRPr>
            </a:pPr>
            <a:r>
              <a:t>Overcrowding is the umbrella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353312"/>
            <a:ext cx="1060704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400" b="0">
                <a:solidFill>
                  <a:srgbClr val="68778B"/>
                </a:solidFill>
                <a:latin typeface="Aptos"/>
              </a:defRPr>
            </a:pPr>
            <a:r>
              <a:t>Across campus, people lose time when they cannot tell how busy a place is, where queues are forming, or what alternative is available.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2971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87168"/>
            <a:ext cx="25146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300" b="1">
                <a:solidFill>
                  <a:srgbClr val="F47062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2514600" cy="9144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500" b="1">
                <a:solidFill>
                  <a:srgbClr val="253347"/>
                </a:solidFill>
                <a:latin typeface="Aptos"/>
              </a:defRPr>
            </a:pPr>
            <a:r>
              <a:t>Unclear crowd levels</a:t>
            </a:r>
            <a:br/>
            <a:r>
              <a:t>Long or uneven queues</a:t>
            </a:r>
            <a:br/>
            <a:r>
              <a:t>Reactive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2880360"/>
            <a:ext cx="59436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800" b="1">
                <a:solidFill>
                  <a:srgbClr val="18A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240280"/>
            <a:ext cx="2971800" cy="1965960"/>
          </a:xfrm>
          <a:prstGeom prst="roundRect">
            <a:avLst/>
          </a:prstGeom>
          <a:solidFill>
            <a:srgbClr val="D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487168"/>
            <a:ext cx="25146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300" b="1">
                <a:solidFill>
                  <a:srgbClr val="18AEA0"/>
                </a:solidFill>
                <a:latin typeface="Aptos"/>
              </a:defRPr>
            </a:pPr>
            <a: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971800"/>
            <a:ext cx="2514600" cy="9144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500" b="1">
                <a:solidFill>
                  <a:srgbClr val="121F35"/>
                </a:solidFill>
                <a:latin typeface="Aptos"/>
              </a:defRPr>
            </a:pPr>
            <a:r>
              <a:t>One shared view of</a:t>
            </a:r>
            <a:br/>
            <a:r>
              <a:t>occupancy, capacity,</a:t>
            </a:r>
            <a:br/>
            <a:r>
              <a:t>queues and busy periods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880360"/>
            <a:ext cx="59436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800" b="1">
                <a:solidFill>
                  <a:srgbClr val="18AE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240280"/>
            <a:ext cx="2971800" cy="1965960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487168"/>
            <a:ext cx="251460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300" b="1">
                <a:solidFill>
                  <a:srgbClr val="F5BE4E"/>
                </a:solidFill>
                <a:latin typeface="Aptos"/>
              </a:defRPr>
            </a:pPr>
            <a:r>
              <a:t>THE 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971800"/>
            <a:ext cx="2514600" cy="9144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Aptos"/>
              </a:defRPr>
            </a:pPr>
            <a:r>
              <a:t>Earlier alerts</a:t>
            </a:r>
            <a:br/>
            <a:r>
              <a:t>Better coordination</a:t>
            </a:r>
            <a:br/>
            <a:r>
              <a:t>Clearer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091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ONE UMBRELLA • MULTIPLE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57800"/>
            <a:ext cx="2514600" cy="530352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376672"/>
            <a:ext cx="2368296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GYM &amp; FITNESS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40" y="5257800"/>
            <a:ext cx="2514600" cy="530352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93592" y="5376672"/>
            <a:ext cx="2368296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HEALTH CENTRE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257800"/>
            <a:ext cx="2514600" cy="530352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5376672"/>
            <a:ext cx="2368296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CANTEENS &amp; CLUBS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5257800"/>
            <a:ext cx="2331720" cy="530352"/>
          </a:xfrm>
          <a:prstGeom prst="roundRect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71432" y="5376672"/>
            <a:ext cx="2185415" cy="256032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CAMPUS SPACES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9601200" cy="18288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594360"/>
            <a:ext cx="2468880" cy="2468880"/>
          </a:xfrm>
          <a:prstGeom prst="ellipse">
            <a:avLst/>
          </a:prstGeom>
          <a:noFill/>
          <a:ln w="27940"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92640" y="1828800"/>
            <a:ext cx="1737360" cy="1737360"/>
          </a:xfrm>
          <a:prstGeom prst="ellipse">
            <a:avLst/>
          </a:prstGeom>
          <a:noFill/>
          <a:ln w="27940">
            <a:solidFill>
              <a:srgbClr val="F2B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26679" y="3246120"/>
            <a:ext cx="1371600" cy="1371600"/>
          </a:xfrm>
          <a:prstGeom prst="ellipse">
            <a:avLst/>
          </a:prstGeom>
          <a:noFill/>
          <a:ln w="27940"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149840" y="4160520"/>
            <a:ext cx="1005840" cy="1005840"/>
          </a:xfrm>
          <a:prstGeom prst="ellipse">
            <a:avLst/>
          </a:prstGeom>
          <a:noFill/>
          <a:ln w="27940"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70264" y="1572768"/>
            <a:ext cx="164592" cy="164592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06256" y="1792224"/>
            <a:ext cx="292608" cy="347472"/>
          </a:xfrm>
          <a:prstGeom prst="roundRect">
            <a:avLst>
              <a:gd name="adj" fmla="val 30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12603" y="2401214"/>
            <a:ext cx="131673" cy="131673"/>
          </a:xfrm>
          <a:prstGeom prst="ellipse">
            <a:avLst/>
          </a:prstGeom>
          <a:solidFill>
            <a:srgbClr val="F2B755"/>
          </a:solidFill>
          <a:ln>
            <a:solidFill>
              <a:srgbClr val="F2B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61396" y="2576779"/>
            <a:ext cx="234086" cy="277977"/>
          </a:xfrm>
          <a:prstGeom prst="roundRect">
            <a:avLst>
              <a:gd name="adj" fmla="val 30000"/>
            </a:avLst>
          </a:prstGeom>
          <a:solidFill>
            <a:srgbClr val="F2B755"/>
          </a:solidFill>
          <a:ln>
            <a:solidFill>
              <a:srgbClr val="F2B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09152" y="3706977"/>
            <a:ext cx="115214" cy="115214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64347" y="3860596"/>
            <a:ext cx="204825" cy="243230"/>
          </a:xfrm>
          <a:prstGeom prst="roundRect">
            <a:avLst>
              <a:gd name="adj" fmla="val 30000"/>
            </a:avLst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07497" y="4431182"/>
            <a:ext cx="90525" cy="90525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72292" y="4551883"/>
            <a:ext cx="160934" cy="191109"/>
          </a:xfrm>
          <a:prstGeom prst="roundRect">
            <a:avLst>
              <a:gd name="adj" fmla="val 30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506102" y="4784140"/>
            <a:ext cx="98755" cy="98755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467697" y="4915814"/>
            <a:ext cx="175564" cy="208483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731520"/>
            <a:ext cx="6217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1">
                <a:solidFill>
                  <a:srgbClr val="75E2D3"/>
                </a:solidFill>
                <a:latin typeface="Aptos"/>
              </a:rPr>
              <a:t>A SMARTER WAY TO MANAGE SHARED SPACES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1417320"/>
            <a:ext cx="6675120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Aptos"/>
              </a:rPr>
              <a:t>OVERCROWD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2633472"/>
            <a:ext cx="5943600" cy="9601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ptos"/>
              </a:rPr>
              <a:t>From overcrowding
to coordinated 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51960"/>
            <a:ext cx="59436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600" b="0">
                <a:solidFill>
                  <a:srgbClr val="D3DEEB"/>
                </a:solidFill>
                <a:latin typeface="Aptos"/>
              </a:rPr>
              <a:t>One platform. Multiple campus pressure points.
Clearer decisions, less avoidable waiting.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623560"/>
            <a:ext cx="2057400" cy="438912"/>
          </a:xfrm>
          <a:prstGeom prst="roundRect">
            <a:avLst>
              <a:gd name="adj" fmla="val 14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15000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4-MINUTE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510528"/>
            <a:ext cx="45720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A8B8CA"/>
                </a:solidFill>
                <a:latin typeface="Aptos"/>
              </a:rPr>
              <a:t>PRODUCT CONCEPT • CAMPUS OPERATIONS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94"/>
                </a:solidFill>
                <a:latin typeface="Aptos"/>
              </a:rPr>
              <a:t>01 /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4233D"/>
                </a:solidFill>
                <a:latin typeface="Aptos"/>
              </a:rPr>
              <a:t>The problem is bigger than one crowded 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588"/>
                </a:solidFill>
                <a:latin typeface="Aptos"/>
              </a:rPr>
              <a:t>Campus services are connected by one challenge: demand and capacity don’t always match.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074920" cy="36118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480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WHAT PEOPLE EXPERIENCE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26080"/>
            <a:ext cx="384048" cy="38404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99232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916936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73343"/>
                </a:solidFill>
                <a:latin typeface="Aptos"/>
              </a:rPr>
              <a:t>Arrive without knowing how busy it is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675888"/>
            <a:ext cx="384048" cy="38404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749040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666744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73343"/>
                </a:solidFill>
                <a:latin typeface="Aptos"/>
              </a:rPr>
              <a:t>Wait, search, or change plans at the last minute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6"/>
            <a:ext cx="384048" cy="38404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98848"/>
            <a:ext cx="384048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416552"/>
            <a:ext cx="37947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273343"/>
                </a:solidFill>
                <a:latin typeface="Aptos"/>
              </a:rPr>
              <a:t>Staff react after pressure has already built 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57400"/>
            <a:ext cx="46634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THE PATTERN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2743200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2592" y="2743200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552944" y="2743200"/>
            <a:ext cx="201168" cy="20116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83296" y="2743200"/>
            <a:ext cx="201168" cy="201168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13648" y="2743200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92240" y="3273552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22592" y="3273552"/>
            <a:ext cx="201168" cy="20116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552944" y="3273552"/>
            <a:ext cx="201168" cy="201168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83296" y="3273552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613648" y="3273552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92240" y="3803904"/>
            <a:ext cx="201168" cy="20116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022592" y="3803904"/>
            <a:ext cx="201168" cy="201168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552944" y="3803904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83296" y="3803904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13648" y="3803904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0" y="4334256"/>
            <a:ext cx="201168" cy="201168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22592" y="4334256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52944" y="4334256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083296" y="4334256"/>
            <a:ext cx="201168" cy="20116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13648" y="4334256"/>
            <a:ext cx="201168" cy="201168"/>
          </a:xfrm>
          <a:prstGeom prst="ellipse">
            <a:avLst/>
          </a:prstGeom>
          <a:solidFill>
            <a:srgbClr val="E4EDF8"/>
          </a:solidFill>
          <a:ln>
            <a:solidFill>
              <a:srgbClr val="E4E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326880" y="2926080"/>
            <a:ext cx="731520" cy="502920"/>
          </a:xfrm>
          <a:prstGeom prst="line">
            <a:avLst/>
          </a:prstGeom>
          <a:ln w="25400">
            <a:solidFill>
              <a:srgbClr val="EB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326880" y="3749039"/>
            <a:ext cx="731520" cy="548641"/>
          </a:xfrm>
          <a:prstGeom prst="line">
            <a:avLst/>
          </a:prstGeom>
          <a:ln w="25400">
            <a:solidFill>
              <a:srgbClr val="EB7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0058400" y="3182112"/>
            <a:ext cx="1143000" cy="777240"/>
          </a:xfrm>
          <a:prstGeom prst="roundRect">
            <a:avLst>
              <a:gd name="adj" fmla="val 14000"/>
            </a:avLst>
          </a:prstGeom>
          <a:solidFill>
            <a:srgbClr val="FCEAE6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04120" y="3337560"/>
            <a:ext cx="1051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300" b="1">
                <a:solidFill>
                  <a:srgbClr val="EB7060"/>
                </a:solidFill>
                <a:latin typeface="Aptos"/>
              </a:rPr>
              <a:t>QUEUE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166360"/>
            <a:ext cx="484632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1">
                <a:solidFill>
                  <a:srgbClr val="14233D"/>
                </a:solidFill>
                <a:latin typeface="Aptos"/>
              </a:rPr>
              <a:t>Unclear demand  →  congestion  →  wasted 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67588"/>
                </a:solidFill>
                <a:latin typeface="Aptos"/>
              </a:rPr>
              <a:t>OVERCROWD  •  SMARTER CAMPUS FLOW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67588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94"/>
                </a:solidFill>
                <a:latin typeface="Aptos"/>
              </a:rPr>
              <a:t>02 / THE BIGGER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4233D"/>
                </a:solidFill>
                <a:latin typeface="Aptos"/>
              </a:rPr>
              <a:t>Overcrowding is the umbrella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588"/>
                </a:solidFill>
                <a:latin typeface="Aptos"/>
              </a:rPr>
              <a:t>Different spaces show pressure in different ways—so one platform needs separate, meaningful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423160"/>
            <a:ext cx="3383280" cy="960120"/>
          </a:xfrm>
          <a:prstGeom prst="roundRect">
            <a:avLst>
              <a:gd name="adj" fmla="val 14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670048"/>
            <a:ext cx="30175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OVERCROWDING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5740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4671" y="2286000"/>
            <a:ext cx="384048" cy="384048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2258568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GYM &amp; FITNESS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61488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67588"/>
                </a:solidFill>
                <a:latin typeface="Aptos"/>
              </a:rPr>
              <a:t>People / equipment availability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205740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22792" y="2286000"/>
            <a:ext cx="384048" cy="384048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16568" y="2258568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CANTEEN / CLUBS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9368" y="2761488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67588"/>
                </a:solidFill>
                <a:latin typeface="Aptos"/>
              </a:rPr>
              <a:t>Service load &amp; busy periods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4671" y="4389120"/>
            <a:ext cx="384048" cy="384048"/>
          </a:xfrm>
          <a:prstGeom prst="ellipse">
            <a:avLst/>
          </a:prstGeom>
          <a:solidFill>
            <a:srgbClr val="F2B755"/>
          </a:solidFill>
          <a:ln>
            <a:solidFill>
              <a:srgbClr val="F2B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98448" y="4361688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CAMPUS SPACES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864608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67588"/>
                </a:solidFill>
                <a:latin typeface="Aptos"/>
              </a:rPr>
              <a:t>Rooms, labs &amp; shared resources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4160520"/>
            <a:ext cx="3017520" cy="1188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22792" y="4389120"/>
            <a:ext cx="384048" cy="384048"/>
          </a:xfrm>
          <a:prstGeom prst="ellipse">
            <a:avLst/>
          </a:prstGeom>
          <a:solidFill>
            <a:srgbClr val="5D81BE"/>
          </a:solidFill>
          <a:ln>
            <a:solidFill>
              <a:srgbClr val="5D8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16568" y="4361688"/>
            <a:ext cx="2240279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HEALTH CENTRE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8" y="4864608"/>
            <a:ext cx="26517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667588"/>
                </a:solidFill>
                <a:latin typeface="Aptos"/>
              </a:rPr>
              <a:t>Queue &amp; capacity coordination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657600" y="2651760"/>
            <a:ext cx="731520" cy="9144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7772400" y="2651760"/>
            <a:ext cx="685800" cy="9144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3657600" y="3383280"/>
            <a:ext cx="1188720" cy="132588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3383280"/>
            <a:ext cx="1143000" cy="1325880"/>
          </a:xfrm>
          <a:prstGeom prst="line">
            <a:avLst/>
          </a:prstGeom>
          <a:ln w="254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160520" y="3886200"/>
            <a:ext cx="38862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200" b="1">
                <a:solidFill>
                  <a:srgbClr val="1F9D94"/>
                </a:solidFill>
                <a:latin typeface="Aptos"/>
              </a:rPr>
              <a:t>One shared foundation • different rules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67588"/>
                </a:solidFill>
                <a:latin typeface="Aptos"/>
              </a:rPr>
              <a:t>OVERCROWD  •  SMARTER CAMPUS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67588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94"/>
                </a:solidFill>
                <a:latin typeface="Aptos"/>
              </a:rPr>
              <a:t>03 / 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4233D"/>
                </a:solidFill>
                <a:latin typeface="Aptos"/>
              </a:rPr>
              <a:t>See pressure early. Act before queues grow.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588"/>
                </a:solidFill>
                <a:latin typeface="Aptos"/>
              </a:rPr>
              <a:t>OVERCROWD connects observations, capacity rules, clear status, and practical next steps.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423160"/>
            <a:ext cx="23317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633472"/>
            <a:ext cx="530352" cy="530352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76148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22191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67588"/>
                </a:solidFill>
                <a:latin typeface="Aptos"/>
              </a:rPr>
              <a:t>Counts, queues,
service signals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3520440"/>
            <a:ext cx="411480" cy="0"/>
          </a:xfrm>
          <a:prstGeom prst="line">
            <a:avLst/>
          </a:prstGeom>
          <a:ln w="31750">
            <a:solidFill>
              <a:srgbClr val="1F9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3209544" y="3374136"/>
            <a:ext cx="228600" cy="292608"/>
          </a:xfrm>
          <a:prstGeom prst="chevron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2423160"/>
            <a:ext cx="23317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30752" y="2633472"/>
            <a:ext cx="530352" cy="530352"/>
          </a:xfrm>
          <a:prstGeom prst="ellipse">
            <a:avLst/>
          </a:prstGeom>
          <a:solidFill>
            <a:srgbClr val="5D81BE"/>
          </a:solidFill>
          <a:ln>
            <a:solidFill>
              <a:srgbClr val="5D8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76148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383280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UNDERSTAND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822191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67588"/>
                </a:solidFill>
                <a:latin typeface="Aptos"/>
              </a:rPr>
              <a:t>Compare load with
approved capacity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25312" y="3520440"/>
            <a:ext cx="411480" cy="0"/>
          </a:xfrm>
          <a:prstGeom prst="line">
            <a:avLst/>
          </a:prstGeom>
          <a:ln w="31750">
            <a:solidFill>
              <a:srgbClr val="1F9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hevron 18"/>
          <p:cNvSpPr/>
          <p:nvPr/>
        </p:nvSpPr>
        <p:spPr>
          <a:xfrm>
            <a:off x="6089904" y="3374136"/>
            <a:ext cx="228600" cy="292608"/>
          </a:xfrm>
          <a:prstGeom prst="chevron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46520" y="2423160"/>
            <a:ext cx="23317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11112" y="2633472"/>
            <a:ext cx="530352" cy="530352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11112" y="276148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383280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ALERT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822191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67588"/>
                </a:solidFill>
                <a:latin typeface="Aptos"/>
              </a:rPr>
              <a:t>Show busy, near-full,
or stale status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05672" y="3520440"/>
            <a:ext cx="411480" cy="0"/>
          </a:xfrm>
          <a:prstGeom prst="line">
            <a:avLst/>
          </a:prstGeom>
          <a:ln w="31750">
            <a:solidFill>
              <a:srgbClr val="1F9D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Chevron 25"/>
          <p:cNvSpPr/>
          <p:nvPr/>
        </p:nvSpPr>
        <p:spPr>
          <a:xfrm>
            <a:off x="8970263" y="3374136"/>
            <a:ext cx="228600" cy="292608"/>
          </a:xfrm>
          <a:prstGeom prst="chevron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2423160"/>
            <a:ext cx="2331720" cy="21488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91472" y="2633472"/>
            <a:ext cx="530352" cy="530352"/>
          </a:xfrm>
          <a:prstGeom prst="ellipse">
            <a:avLst/>
          </a:prstGeom>
          <a:solidFill>
            <a:srgbClr val="F2B755"/>
          </a:solidFill>
          <a:ln>
            <a:solidFill>
              <a:srgbClr val="F2B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91472" y="2761488"/>
            <a:ext cx="530352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3383280"/>
            <a:ext cx="19659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1">
                <a:solidFill>
                  <a:srgbClr val="14233D"/>
                </a:solidFill>
                <a:latin typeface="Aptos"/>
              </a:rPr>
              <a:t>COORDINATE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3822191"/>
            <a:ext cx="196596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200" b="0">
                <a:solidFill>
                  <a:srgbClr val="667588"/>
                </a:solidFill>
                <a:latin typeface="Aptos"/>
              </a:rPr>
              <a:t>Suggest quieter times
or suitable alternatives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66360"/>
            <a:ext cx="10332720" cy="658368"/>
          </a:xfrm>
          <a:prstGeom prst="roundRect">
            <a:avLst>
              <a:gd name="adj" fmla="val 14000"/>
            </a:avLst>
          </a:prstGeom>
          <a:solidFill>
            <a:srgbClr val="DBF4ED"/>
          </a:solidFill>
          <a:ln>
            <a:solidFill>
              <a:srgbClr val="DB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358384"/>
            <a:ext cx="9875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500" b="1">
                <a:solidFill>
                  <a:srgbClr val="14233D"/>
                </a:solidFill>
                <a:latin typeface="Aptos"/>
              </a:rPr>
              <a:t>AI explains trusted data; capacity rules and human staff stay in control.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67588"/>
                </a:solidFill>
                <a:latin typeface="Aptos"/>
              </a:rPr>
              <a:t>OVERCROWD  •  SMARTER CAMPUS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67588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94"/>
                </a:solidFill>
                <a:latin typeface="Aptos"/>
              </a:rPr>
              <a:t>04 / HOW IT HELPS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4233D"/>
                </a:solidFill>
                <a:latin typeface="Aptos"/>
              </a:rPr>
              <a:t>Turn scattered signals into a clear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588"/>
                </a:solidFill>
                <a:latin typeface="Aptos"/>
              </a:rPr>
              <a:t>Illustrative example only—not live campus data. The point is to make pressure visible and actionable.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6583680" cy="38404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50292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ILLUSTRATIVE GYM OCCUPANCY BY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78608"/>
            <a:ext cx="5029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0">
                <a:solidFill>
                  <a:srgbClr val="667588"/>
                </a:solidFill>
                <a:latin typeface="Aptos"/>
              </a:rPr>
              <a:t>People present • sample values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188720" y="5212079"/>
            <a:ext cx="5394960" cy="0"/>
          </a:xfrm>
          <a:prstGeom prst="line">
            <a:avLst/>
          </a:prstGeom>
          <a:ln w="1270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88720" y="4720590"/>
            <a:ext cx="5394960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8720" y="4229099"/>
            <a:ext cx="5394960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88720" y="3737609"/>
            <a:ext cx="5394960" cy="0"/>
          </a:xfrm>
          <a:prstGeom prst="line">
            <a:avLst/>
          </a:prstGeom>
          <a:ln w="10160">
            <a:solidFill>
              <a:srgbClr val="DCE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536192" y="4568674"/>
            <a:ext cx="530352" cy="643405"/>
          </a:xfrm>
          <a:prstGeom prst="roundRect">
            <a:avLst>
              <a:gd name="adj" fmla="val 14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90472" y="5285231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67588"/>
                </a:solidFill>
                <a:latin typeface="Aptos"/>
              </a:rPr>
              <a:t>9 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90472" y="4312642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18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4068248"/>
            <a:ext cx="530352" cy="1143831"/>
          </a:xfrm>
          <a:prstGeom prst="roundRect">
            <a:avLst>
              <a:gd name="adj" fmla="val 14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5285231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67588"/>
                </a:solidFill>
                <a:latin typeface="Aptos"/>
              </a:rPr>
              <a:t>11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3812216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32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3496333"/>
            <a:ext cx="530352" cy="1715746"/>
          </a:xfrm>
          <a:prstGeom prst="roundRect">
            <a:avLst>
              <a:gd name="adj" fmla="val 14000"/>
            </a:avLst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5285231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67588"/>
                </a:solidFill>
                <a:latin typeface="Aptos"/>
              </a:rPr>
              <a:t>1 PM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3240301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48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53712" y="3818035"/>
            <a:ext cx="530352" cy="1394044"/>
          </a:xfrm>
          <a:prstGeom prst="roundRect">
            <a:avLst>
              <a:gd name="adj" fmla="val 14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07992" y="5285231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67588"/>
                </a:solidFill>
                <a:latin typeface="Aptos"/>
              </a:rPr>
              <a:t>3 PM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3562003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39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59552" y="4354206"/>
            <a:ext cx="530352" cy="857873"/>
          </a:xfrm>
          <a:prstGeom prst="roundRect">
            <a:avLst>
              <a:gd name="adj" fmla="val 14000"/>
            </a:avLst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13832" y="5285231"/>
            <a:ext cx="6400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900" b="0">
                <a:solidFill>
                  <a:srgbClr val="667588"/>
                </a:solidFill>
                <a:latin typeface="Aptos"/>
              </a:rPr>
              <a:t>5 PM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13832" y="4098174"/>
            <a:ext cx="64008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14233D"/>
                </a:solidFill>
                <a:latin typeface="Aptos"/>
              </a:rPr>
              <a:t>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1965960"/>
            <a:ext cx="3977639" cy="3840480"/>
          </a:xfrm>
          <a:prstGeom prst="roundRect">
            <a:avLst>
              <a:gd name="adj" fmla="val 14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9560" y="2304288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75E2D3"/>
                </a:solidFill>
                <a:latin typeface="Aptos"/>
              </a:rPr>
              <a:t>WHAT THE TEAM CAN DO</a:t>
            </a:r>
          </a:p>
        </p:txBody>
      </p:sp>
      <p:sp>
        <p:nvSpPr>
          <p:cNvPr id="30" name="Oval 29"/>
          <p:cNvSpPr/>
          <p:nvPr/>
        </p:nvSpPr>
        <p:spPr>
          <a:xfrm>
            <a:off x="7909560" y="2880360"/>
            <a:ext cx="310896" cy="310896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944368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871216"/>
            <a:ext cx="2697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Display current status + timestamp</a:t>
            </a:r>
          </a:p>
        </p:txBody>
      </p:sp>
      <p:sp>
        <p:nvSpPr>
          <p:cNvPr id="33" name="Oval 32"/>
          <p:cNvSpPr/>
          <p:nvPr/>
        </p:nvSpPr>
        <p:spPr>
          <a:xfrm>
            <a:off x="7909560" y="3502152"/>
            <a:ext cx="310896" cy="310896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09560" y="3566160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493008"/>
            <a:ext cx="2697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Flag near-capacity conditions</a:t>
            </a:r>
          </a:p>
        </p:txBody>
      </p:sp>
      <p:sp>
        <p:nvSpPr>
          <p:cNvPr id="36" name="Oval 35"/>
          <p:cNvSpPr/>
          <p:nvPr/>
        </p:nvSpPr>
        <p:spPr>
          <a:xfrm>
            <a:off x="7909560" y="4123944"/>
            <a:ext cx="310896" cy="310896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09560" y="4187952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114800"/>
            <a:ext cx="2697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Recommend less busy time windows</a:t>
            </a:r>
          </a:p>
        </p:txBody>
      </p:sp>
      <p:sp>
        <p:nvSpPr>
          <p:cNvPr id="39" name="Oval 38"/>
          <p:cNvSpPr/>
          <p:nvPr/>
        </p:nvSpPr>
        <p:spPr>
          <a:xfrm>
            <a:off x="7909560" y="4745736"/>
            <a:ext cx="310896" cy="310896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09560" y="4809744"/>
            <a:ext cx="310896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736592"/>
            <a:ext cx="26974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ptos"/>
              </a:rPr>
              <a:t>Track trends before changing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67588"/>
                </a:solidFill>
                <a:latin typeface="Aptos"/>
              </a:rPr>
              <a:t>OVERCROWD  •  SMARTER CAMPUS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67588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7899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1F9D94"/>
                </a:solidFill>
                <a:latin typeface="Aptos"/>
              </a:rPr>
              <a:t>05 / WHY OVERCROWD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900" b="1">
                <a:solidFill>
                  <a:srgbClr val="14233D"/>
                </a:solidFill>
                <a:latin typeface="Aptos"/>
              </a:rPr>
              <a:t>A calmer campus starts with better coordination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53312"/>
            <a:ext cx="10607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667588"/>
                </a:solidFill>
                <a:latin typeface="Aptos"/>
              </a:rPr>
              <a:t>The goal is not to remove every busy moment—it’s to help people and teams respond intelligently.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31720"/>
            <a:ext cx="502920" cy="502920"/>
          </a:xfrm>
          <a:prstGeom prst="ellipse">
            <a:avLst/>
          </a:prstGeom>
          <a:solidFill>
            <a:srgbClr val="1F9D94"/>
          </a:solidFill>
          <a:ln>
            <a:solidFill>
              <a:srgbClr val="1F9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432303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0175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FOR STUDENTS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47287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88"/>
                </a:solidFill>
                <a:latin typeface="Aptos"/>
              </a:rPr>
              <a:t>Less guesswork. Better timing.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03120"/>
            <a:ext cx="338328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2331720"/>
            <a:ext cx="502920" cy="502920"/>
          </a:xfrm>
          <a:prstGeom prst="ellipse">
            <a:avLst/>
          </a:prstGeom>
          <a:solidFill>
            <a:srgbClr val="5D81BE"/>
          </a:solidFill>
          <a:ln>
            <a:solidFill>
              <a:srgbClr val="5D8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2432303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30175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FOR STAFF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447287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88"/>
                </a:solidFill>
                <a:latin typeface="Aptos"/>
              </a:rPr>
              <a:t>Earlier warnings. Clearer actions.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103120"/>
            <a:ext cx="3383280" cy="2011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DC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5320" y="2331720"/>
            <a:ext cx="502920" cy="502920"/>
          </a:xfrm>
          <a:prstGeom prst="ellipse">
            <a:avLst/>
          </a:prstGeom>
          <a:solidFill>
            <a:srgbClr val="EB7060"/>
          </a:solidFill>
          <a:ln>
            <a:solidFill>
              <a:srgbClr val="EB7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2432303"/>
            <a:ext cx="502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3017520"/>
            <a:ext cx="29260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1">
                <a:solidFill>
                  <a:srgbClr val="14233D"/>
                </a:solidFill>
                <a:latin typeface="Aptos"/>
              </a:rPr>
              <a:t>FOR THE CAMPUS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3447287"/>
            <a:ext cx="29260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667588"/>
                </a:solidFill>
                <a:latin typeface="Aptos"/>
              </a:rPr>
              <a:t>Shared visibility. Smarter 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800600"/>
            <a:ext cx="10058400" cy="868680"/>
          </a:xfrm>
          <a:prstGeom prst="roundRect">
            <a:avLst>
              <a:gd name="adj" fmla="val 14000"/>
            </a:avLst>
          </a:prstGeom>
          <a:solidFill>
            <a:srgbClr val="14233D"/>
          </a:solidFill>
          <a:ln>
            <a:solidFill>
              <a:srgbClr val="142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25880" y="5047488"/>
            <a:ext cx="95097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OVERCROWD  |  Know the pressure. Coordinate the response.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943600"/>
            <a:ext cx="9601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100" b="0">
                <a:solidFill>
                  <a:srgbClr val="667588"/>
                </a:solidFill>
                <a:latin typeface="Aptos"/>
              </a:rPr>
              <a:t>Start with gym crowd management; expand carefully to campus spaces, canteen/club workload, and health-centre queues.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59436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1">
                <a:solidFill>
                  <a:srgbClr val="667588"/>
                </a:solidFill>
                <a:latin typeface="Aptos"/>
              </a:rPr>
              <a:t>OVERCROWD  •  SMARTER CAMPUS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73952"/>
            <a:ext cx="54864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1000" b="1">
                <a:solidFill>
                  <a:srgbClr val="667588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FIELD 01  /  FITNESS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"/>
              </a:defRPr>
            </a:pPr>
            <a:r>
              <a:t>Gym &amp; fitness: make busy hours predictable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68778B"/>
                </a:solidFill>
                <a:latin typeface="Aptos"/>
              </a:defRPr>
            </a:pPr>
            <a:r>
              <a:t>Start with the clearest use case—help students choose when and where to work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657600" cy="4160520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1089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1">
                <a:solidFill>
                  <a:srgbClr val="18AEA0"/>
                </a:solidFill>
                <a:latin typeface="Aptos"/>
              </a:defRPr>
            </a:pPr>
            <a:r>
              <a:t>GYM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01752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Illustrative live-style 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" y="3063240"/>
            <a:ext cx="2560320" cy="219456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" y="3063240"/>
            <a:ext cx="822960" cy="219456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3017520"/>
            <a:ext cx="100584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721608"/>
            <a:ext cx="2560320" cy="219456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3721608"/>
            <a:ext cx="1554480" cy="219456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3675888"/>
            <a:ext cx="100584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MODERATE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" y="4379976"/>
            <a:ext cx="2560320" cy="219456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" y="4379976"/>
            <a:ext cx="2377440" cy="219456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334256"/>
            <a:ext cx="100584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BUSY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257800"/>
            <a:ext cx="301752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ptos"/>
              </a:defRPr>
            </a:pPr>
            <a:r>
              <a:t>Check crowd level → choose a quieter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7830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36592" y="1965960"/>
            <a:ext cx="566928" cy="566928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3659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984248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Student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715768"/>
            <a:ext cx="275234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See current crowd level, estimated wait, and quieter time suggestions.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65592" y="1965960"/>
            <a:ext cx="566928" cy="566928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984248"/>
            <a:ext cx="24688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Staff 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2168" y="2715768"/>
            <a:ext cx="31181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Spot peak periods and coordinate equipment, entry flow, and support.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0" y="388620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736592" y="4069080"/>
            <a:ext cx="566928" cy="566928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3659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4087368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Useful signals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73168" y="4818888"/>
            <a:ext cx="275234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Occupancy count • capacity limit • time-of-day trend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73168" y="5321808"/>
            <a:ext cx="2057400" cy="256032"/>
          </a:xfrm>
          <a:prstGeom prst="roundRect">
            <a:avLst/>
          </a:prstGeom>
          <a:solidFill>
            <a:srgbClr val="D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5330952"/>
            <a:ext cx="192024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1">
                <a:solidFill>
                  <a:srgbClr val="121F35"/>
                </a:solidFill>
                <a:latin typeface="Aptos"/>
              </a:defRPr>
            </a:pPr>
            <a:r>
              <a:t>Pilot-friendly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8862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65592" y="4069080"/>
            <a:ext cx="566928" cy="566928"/>
          </a:xfrm>
          <a:prstGeom prst="roundRect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87368"/>
            <a:ext cx="24688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4818888"/>
            <a:ext cx="31181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Less uncertainty and better distribution of demand—not simply more space.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6877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FIELD 02  /  WELLBEING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"/>
              </a:defRPr>
            </a:pPr>
            <a:r>
              <a:t>Health centre: coordinate queues with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68778B"/>
                </a:solidFill>
                <a:latin typeface="Aptos"/>
              </a:defRPr>
            </a:pPr>
            <a:r>
              <a:t>A queue-and-capacity view can improve visibility while clinical decisions stay with staff.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657600" cy="4160520"/>
          </a:xfrm>
          <a:prstGeom prst="roundRect">
            <a:avLst/>
          </a:prstGeom>
          <a:solidFill>
            <a:srgbClr val="D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292608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1">
                <a:solidFill>
                  <a:srgbClr val="121F35"/>
                </a:solidFill>
                <a:latin typeface="Aptos"/>
              </a:defRPr>
            </a:pPr>
            <a:r>
              <a:t>HEALTH CENTRE</a:t>
            </a:r>
          </a:p>
        </p:txBody>
      </p:sp>
      <p:sp>
        <p:nvSpPr>
          <p:cNvPr id="7" name="Oval 6"/>
          <p:cNvSpPr/>
          <p:nvPr/>
        </p:nvSpPr>
        <p:spPr>
          <a:xfrm>
            <a:off x="896112" y="2697480"/>
            <a:ext cx="438912" cy="438912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697480"/>
            <a:ext cx="438912" cy="4389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08760" y="2715768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C5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73352" y="2752344"/>
            <a:ext cx="1874519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96112" y="3502152"/>
            <a:ext cx="438912" cy="438912"/>
          </a:xfrm>
          <a:prstGeom prst="ellipse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502152"/>
            <a:ext cx="438912" cy="4389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08760" y="3520440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C5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73352" y="3557016"/>
            <a:ext cx="1874519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Waiting area</a:t>
            </a:r>
          </a:p>
        </p:txBody>
      </p:sp>
      <p:sp>
        <p:nvSpPr>
          <p:cNvPr id="15" name="Oval 14"/>
          <p:cNvSpPr/>
          <p:nvPr/>
        </p:nvSpPr>
        <p:spPr>
          <a:xfrm>
            <a:off x="896112" y="4306824"/>
            <a:ext cx="438912" cy="438912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306824"/>
            <a:ext cx="438912" cy="438912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08760" y="4325112"/>
            <a:ext cx="214884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C5D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73352" y="4361688"/>
            <a:ext cx="1874519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Consultation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2971800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Show queue status; protect patient privacy.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36592" y="1965960"/>
            <a:ext cx="566928" cy="566928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984248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Queue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3168" y="2715768"/>
            <a:ext cx="275234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Display waiting load and service-stage status, using privacy-safe counts.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01000" y="178308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65592" y="1965960"/>
            <a:ext cx="566928" cy="566928"/>
          </a:xfrm>
          <a:prstGeom prst="roundRect">
            <a:avLst/>
          </a:prstGeom>
          <a:solidFill>
            <a:srgbClr val="907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6559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1984248"/>
            <a:ext cx="24688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Staff coordination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2168" y="2715768"/>
            <a:ext cx="31181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Help reception and authorised staff understand where congestion is building.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0" y="3886200"/>
            <a:ext cx="31546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36592" y="4069080"/>
            <a:ext cx="566928" cy="566928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4087368"/>
            <a:ext cx="210312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Safety boundary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4818888"/>
            <a:ext cx="275234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Urgency, triage, diagnosis, and treatment remain human clinical decisions.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8862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165592" y="4069080"/>
            <a:ext cx="566928" cy="566928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4087368"/>
            <a:ext cx="24688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Expected outcome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02168" y="4818888"/>
            <a:ext cx="31181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Clearer waiting information and smoother movement through the centre.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6877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FIELD 03  /  EVERYDAY CAMPUS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"/>
              </a:defRPr>
            </a:pPr>
            <a:r>
              <a:t>Canteens &amp; clubs: reduce bottlenecks at busy moments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68778B"/>
                </a:solidFill>
                <a:latin typeface="Aptos"/>
              </a:defRPr>
            </a:pPr>
            <a:r>
              <a:t>Different settings, same principle: see pressure early and help people spread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4671" y="2011680"/>
            <a:ext cx="566928" cy="566928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20025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9968"/>
            <a:ext cx="425196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Canteens &amp; counters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761488"/>
            <a:ext cx="4901183" cy="21031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• Show queue length or busy/quiet status</a:t>
            </a:r>
            <a:br/>
            <a:r>
              <a:t>• Compare rush periods across the day</a:t>
            </a:r>
            <a:br/>
            <a:r>
              <a:t>• Guide students toward less-crowded counters</a:t>
            </a:r>
            <a:br/>
            <a:r>
              <a:t>• Help teams plan service staffing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7" y="4636008"/>
            <a:ext cx="2057400" cy="256032"/>
          </a:xfrm>
          <a:prstGeom prst="roundRect">
            <a:avLst/>
          </a:prstGeom>
          <a:solidFill>
            <a:srgbClr val="D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45152"/>
            <a:ext cx="192024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1">
                <a:solidFill>
                  <a:srgbClr val="121F35"/>
                </a:solidFill>
                <a:latin typeface="Aptos"/>
              </a:defRPr>
            </a:pPr>
            <a:r>
              <a:t>Fast-moving queues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53035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82512" y="2011680"/>
            <a:ext cx="566928" cy="566928"/>
          </a:xfrm>
          <a:prstGeom prst="roundRect">
            <a:avLst/>
          </a:prstGeom>
          <a:solidFill>
            <a:srgbClr val="9071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0025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029968"/>
            <a:ext cx="425196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Clubs &amp;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761488"/>
            <a:ext cx="4901183" cy="210312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• Track room capacity and event check-ins</a:t>
            </a:r>
            <a:br/>
            <a:r>
              <a:t>• Flag when a space is approaching its limit</a:t>
            </a:r>
            <a:br/>
            <a:r>
              <a:t>• Help organisers manage entry and exits</a:t>
            </a:r>
            <a:br/>
            <a:r>
              <a:t>• Share updates before a crowd builds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4636008"/>
            <a:ext cx="2057400" cy="256032"/>
          </a:xfrm>
          <a:prstGeom prst="roundRect">
            <a:avLst/>
          </a:prstGeom>
          <a:solidFill>
            <a:srgbClr val="DBF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645152"/>
            <a:ext cx="1920240" cy="20116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1">
                <a:solidFill>
                  <a:srgbClr val="121F35"/>
                </a:solidFill>
                <a:latin typeface="Aptos"/>
              </a:defRPr>
            </a:pPr>
            <a:r>
              <a:t>Event-aware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94960"/>
            <a:ext cx="10881360" cy="566928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513832"/>
            <a:ext cx="10424160" cy="3200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One dashboard • different rules • clear alerts • people remain 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6877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0040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FIELD 04  /  CAMPUS SPACES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700" b="1">
                <a:solidFill>
                  <a:srgbClr val="121F35"/>
                </a:solidFill>
                <a:latin typeface="Aptos"/>
              </a:defRPr>
            </a:pPr>
            <a:r>
              <a:t>Rooms &amp; shared spaces: match demand to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43000"/>
            <a:ext cx="10972800" cy="36576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68778B"/>
                </a:solidFill>
                <a:latin typeface="Aptos"/>
              </a:defRPr>
            </a:pPr>
            <a:r>
              <a:t>Make it easier to find a suitable place without sending everyone to the same hotspot.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4800600" cy="4251960"/>
          </a:xfrm>
          <a:prstGeom prst="roundRect">
            <a:avLst/>
          </a:prstGeom>
          <a:solidFill>
            <a:srgbClr val="E8EF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20624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CAMPUS SPACE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670048"/>
            <a:ext cx="150876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100" b="1">
                <a:solidFill>
                  <a:srgbClr val="121F35"/>
                </a:solidFill>
                <a:latin typeface="Aptos"/>
              </a:defRPr>
            </a:pPr>
            <a:r>
              <a:t>Study room A</a:t>
            </a:r>
          </a:p>
        </p:txBody>
      </p:sp>
      <p:sp>
        <p:nvSpPr>
          <p:cNvPr id="9" name="Oval 8"/>
          <p:cNvSpPr/>
          <p:nvPr/>
        </p:nvSpPr>
        <p:spPr>
          <a:xfrm>
            <a:off x="1024128" y="3063239"/>
            <a:ext cx="128016" cy="128016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25296" y="3026663"/>
            <a:ext cx="12801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800" b="1">
                <a:solidFill>
                  <a:srgbClr val="68778B"/>
                </a:solidFill>
                <a:latin typeface="Aptos"/>
              </a:defRPr>
            </a:pPr>
            <a:r>
              <a:t>QUIET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560320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72968" y="2670048"/>
            <a:ext cx="150876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100" b="1">
                <a:solidFill>
                  <a:srgbClr val="121F35"/>
                </a:solidFill>
                <a:latin typeface="Aptos"/>
              </a:defRPr>
            </a:pPr>
            <a:r>
              <a:t>Common room</a:t>
            </a:r>
          </a:p>
        </p:txBody>
      </p:sp>
      <p:sp>
        <p:nvSpPr>
          <p:cNvPr id="13" name="Oval 12"/>
          <p:cNvSpPr/>
          <p:nvPr/>
        </p:nvSpPr>
        <p:spPr>
          <a:xfrm>
            <a:off x="3172968" y="3063239"/>
            <a:ext cx="128016" cy="128016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3026663"/>
            <a:ext cx="12801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800" b="1">
                <a:solidFill>
                  <a:srgbClr val="68778B"/>
                </a:solidFill>
                <a:latin typeface="Aptos"/>
              </a:defRPr>
            </a:pPr>
            <a:r>
              <a:t>BUSY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977639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4087368"/>
            <a:ext cx="150876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100" b="1">
                <a:solidFill>
                  <a:srgbClr val="121F35"/>
                </a:solidFill>
                <a:latin typeface="Aptos"/>
              </a:defRPr>
            </a:pPr>
            <a:r>
              <a:t>Seminar room</a:t>
            </a:r>
          </a:p>
        </p:txBody>
      </p:sp>
      <p:sp>
        <p:nvSpPr>
          <p:cNvPr id="17" name="Oval 16"/>
          <p:cNvSpPr/>
          <p:nvPr/>
        </p:nvSpPr>
        <p:spPr>
          <a:xfrm>
            <a:off x="1024128" y="4480559"/>
            <a:ext cx="128016" cy="128016"/>
          </a:xfrm>
          <a:prstGeom prst="ellipse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25296" y="4443983"/>
            <a:ext cx="12801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800" b="1">
                <a:solidFill>
                  <a:srgbClr val="68778B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3977639"/>
            <a:ext cx="16916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3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72968" y="4087368"/>
            <a:ext cx="150876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100" b="1">
                <a:solidFill>
                  <a:srgbClr val="121F35"/>
                </a:solidFill>
                <a:latin typeface="Aptos"/>
              </a:defRPr>
            </a:pPr>
            <a:r>
              <a:t>Activity hall</a:t>
            </a:r>
          </a:p>
        </p:txBody>
      </p:sp>
      <p:sp>
        <p:nvSpPr>
          <p:cNvPr id="21" name="Oval 20"/>
          <p:cNvSpPr/>
          <p:nvPr/>
        </p:nvSpPr>
        <p:spPr>
          <a:xfrm>
            <a:off x="3172968" y="4480559"/>
            <a:ext cx="128016" cy="128016"/>
          </a:xfrm>
          <a:prstGeom prst="ellipse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74136" y="4443983"/>
            <a:ext cx="12801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800" b="1">
                <a:solidFill>
                  <a:srgbClr val="68778B"/>
                </a:solidFill>
                <a:latin typeface="Aptos"/>
              </a:defRPr>
            </a:pPr>
            <a:r>
              <a:t>NEAR LIMIT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178308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25312" y="1965960"/>
            <a:ext cx="566928" cy="566928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2531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1984248"/>
            <a:ext cx="15544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2715768"/>
            <a:ext cx="22037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Show available rooms, spaces, or facilities.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178308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805672" y="1965960"/>
            <a:ext cx="566928" cy="566928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195681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1984248"/>
            <a:ext cx="169164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Forecast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42248" y="2715768"/>
            <a:ext cx="234086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Use past patterns to highlight likely busy windows.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60720" y="3886200"/>
            <a:ext cx="26060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5925312" y="4069080"/>
            <a:ext cx="566928" cy="566928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087368"/>
            <a:ext cx="155448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Redirect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61888" y="4818888"/>
            <a:ext cx="220370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Suggest suitable alternatives before crowding grows.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3886200"/>
            <a:ext cx="27432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2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05672" y="4069080"/>
            <a:ext cx="566928" cy="566928"/>
          </a:xfrm>
          <a:prstGeom prst="roundRect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05672" y="4059936"/>
            <a:ext cx="566928" cy="566928"/>
          </a:xfrm>
          <a:prstGeom prst="rect">
            <a:avLst/>
          </a:prstGeom>
          <a:noFill/>
        </p:spPr>
        <p:txBody>
          <a:bodyPr wrap="square" lIns="36576" rIns="36576" tIns="27432" bIns="18288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59" y="4087368"/>
            <a:ext cx="1691640" cy="310896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700" b="1">
                <a:solidFill>
                  <a:srgbClr val="121F35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2248" y="4818888"/>
            <a:ext cx="2340864" cy="731519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Respect room limits, accessibility, and event needs.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6877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78992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HOW THE FIELDS CONNECT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698480" cy="54864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One platform. Different campus needs.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53312"/>
            <a:ext cx="10607040" cy="34747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1300" b="0">
                <a:solidFill>
                  <a:srgbClr val="CDD8E5"/>
                </a:solidFill>
                <a:latin typeface="Aptos"/>
              </a:defRPr>
            </a:pPr>
            <a:r>
              <a:t>OVERCROWD is the umbrella; each field uses its own data and operating rules.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2331720"/>
            <a:ext cx="4114800" cy="960120"/>
          </a:xfrm>
          <a:prstGeom prst="roundRect">
            <a:avLst/>
          </a:prstGeom>
          <a:solidFill>
            <a:srgbClr val="1C304C"/>
          </a:solidFill>
          <a:ln>
            <a:solidFill>
              <a:srgbClr val="18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60520" y="2542032"/>
            <a:ext cx="3749039" cy="4114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Aptos"/>
              </a:defRPr>
            </a:pPr>
            <a:r>
              <a:t>OVERCROWD CORE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468880"/>
            <a:ext cx="2331720" cy="594360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2148839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121F35"/>
                </a:solidFill>
                <a:latin typeface="Aptos"/>
              </a:defRPr>
            </a:pPr>
            <a:r>
              <a:t>GYM / FITNESS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468880"/>
            <a:ext cx="2514600" cy="594360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23960" y="2587752"/>
            <a:ext cx="233172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121F35"/>
                </a:solidFill>
                <a:latin typeface="Aptos"/>
              </a:defRPr>
            </a:pPr>
            <a:r>
              <a:t>HEALTH CENTRE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94760"/>
            <a:ext cx="2331720" cy="594360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13632"/>
            <a:ext cx="2148839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121F35"/>
                </a:solidFill>
                <a:latin typeface="Aptos"/>
              </a:defRPr>
            </a:pPr>
            <a:r>
              <a:t>CANTEENS / CLUBS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3794760"/>
            <a:ext cx="2514600" cy="594360"/>
          </a:xfrm>
          <a:prstGeom prst="roundRect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3913632"/>
            <a:ext cx="2331720" cy="292608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121F35"/>
                </a:solidFill>
                <a:latin typeface="Aptos"/>
              </a:defRPr>
            </a:pPr>
            <a:r>
              <a:t>ROOMS / SPACES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892040"/>
            <a:ext cx="3337560" cy="960120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" y="5056632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1">
                <a:solidFill>
                  <a:srgbClr val="18AEA0"/>
                </a:solidFill>
                <a:latin typeface="Aptos"/>
              </a:defRPr>
            </a:pPr>
            <a:r>
              <a:t>Reliable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" y="5394960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000" b="0">
                <a:solidFill>
                  <a:srgbClr val="DFE6EE"/>
                </a:solidFill>
                <a:latin typeface="Aptos"/>
              </a:defRPr>
            </a:pPr>
            <a:r>
              <a:t>Counts, capacity, and timestamps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4892040"/>
            <a:ext cx="3337560" cy="960120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5056632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1">
                <a:solidFill>
                  <a:srgbClr val="F5BE4E"/>
                </a:solidFill>
                <a:latin typeface="Aptos"/>
              </a:defRPr>
            </a:pPr>
            <a:r>
              <a:t>Clear alerts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5394960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000" b="0">
                <a:solidFill>
                  <a:srgbClr val="DFE6EE"/>
                </a:solidFill>
                <a:latin typeface="Aptos"/>
              </a:defRPr>
            </a:pPr>
            <a:r>
              <a:t>Simple status and useful next steps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43800" y="4892040"/>
            <a:ext cx="3337560" cy="960120"/>
          </a:xfrm>
          <a:prstGeom prst="roundRect">
            <a:avLst/>
          </a:prstGeom>
          <a:solidFill>
            <a:srgbClr val="1C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0104" y="5056632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400" b="1">
                <a:solidFill>
                  <a:srgbClr val="18AEA0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0104" y="5394960"/>
            <a:ext cx="3017520" cy="256032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000" b="0">
                <a:solidFill>
                  <a:srgbClr val="DFE6EE"/>
                </a:solidFill>
                <a:latin typeface="Aptos"/>
              </a:defRPr>
            </a:pPr>
            <a:r>
              <a:t>Privacy, safety, and staff judgement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217920"/>
            <a:ext cx="10881360" cy="22860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Start with a gym pilot • measure results • expand field by field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37960"/>
            <a:ext cx="731520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One system, many campus use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9672"/>
            <a:ext cx="502920" cy="182880"/>
          </a:xfrm>
          <a:prstGeom prst="rect">
            <a:avLst/>
          </a:prstGeom>
          <a:noFill/>
        </p:spPr>
        <p:txBody>
          <a:bodyPr wrap="square" lIns="36576" rIns="36576" tIns="27432" bIns="18288" anchor="t">
            <a:spAutoFit/>
          </a:bodyPr>
          <a:lstStyle/>
          <a:p>
            <a:pPr algn="r">
              <a:defRPr sz="900" b="1">
                <a:solidFill>
                  <a:srgbClr val="6877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F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69848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18AEA0"/>
                </a:solidFill>
                <a:latin typeface="Aptos"/>
              </a:defRPr>
            </a:pPr>
            <a:r>
              <a:t>THE WAY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32720" cy="7315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Know the pressure. Coordinate the response.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74519"/>
            <a:ext cx="8503920" cy="5029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600" b="0">
                <a:solidFill>
                  <a:srgbClr val="CFDBE8"/>
                </a:solidFill>
                <a:latin typeface="Aptos"/>
              </a:defRPr>
            </a:pPr>
            <a:r>
              <a:t>Start small. Learn from real campus patterns. Expand responsibly.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971800"/>
            <a:ext cx="3154680" cy="1600200"/>
          </a:xfrm>
          <a:prstGeom prst="roundRect">
            <a:avLst/>
          </a:prstGeom>
          <a:solidFill>
            <a:srgbClr val="1C304C"/>
          </a:solidFill>
          <a:ln>
            <a:solidFill>
              <a:srgbClr val="18AE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3182112"/>
            <a:ext cx="438912" cy="438912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82112"/>
            <a:ext cx="438912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7048" y="3218688"/>
            <a:ext cx="214884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794760"/>
            <a:ext cx="274320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100" b="0">
                <a:solidFill>
                  <a:srgbClr val="DAE4EF"/>
                </a:solidFill>
                <a:latin typeface="Aptos"/>
              </a:defRPr>
            </a:pPr>
            <a:r>
              <a:t>Begin with the gym and validate the occupancy signals.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2971800"/>
            <a:ext cx="3154680" cy="1600200"/>
          </a:xfrm>
          <a:prstGeom prst="roundRect">
            <a:avLst/>
          </a:prstGeom>
          <a:solidFill>
            <a:srgbClr val="1C304C"/>
          </a:solidFill>
          <a:ln>
            <a:solidFill>
              <a:srgbClr val="F5BE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343400" y="3182112"/>
            <a:ext cx="438912" cy="438912"/>
          </a:xfrm>
          <a:prstGeom prst="ellipse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3182112"/>
            <a:ext cx="438912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3218688"/>
            <a:ext cx="214884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3794760"/>
            <a:ext cx="274320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100" b="0">
                <a:solidFill>
                  <a:srgbClr val="DAE4EF"/>
                </a:solidFill>
                <a:latin typeface="Aptos"/>
              </a:defRPr>
            </a:pPr>
            <a:r>
              <a:t>Track waiting, peak periods and user feedback.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2971800"/>
            <a:ext cx="3154680" cy="1600200"/>
          </a:xfrm>
          <a:prstGeom prst="roundRect">
            <a:avLst/>
          </a:prstGeom>
          <a:solidFill>
            <a:srgbClr val="1C304C"/>
          </a:solidFill>
          <a:ln>
            <a:solidFill>
              <a:srgbClr val="F47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726679" y="3182112"/>
            <a:ext cx="438912" cy="438912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182112"/>
            <a:ext cx="438912" cy="438912"/>
          </a:xfrm>
          <a:prstGeom prst="rect">
            <a:avLst/>
          </a:prstGeom>
          <a:noFill/>
        </p:spPr>
        <p:txBody>
          <a:bodyPr wrap="square" lIns="36576" rIns="36576" tIns="22860" bIns="18288" anchor="ctr">
            <a:spAutoFit/>
          </a:bodyPr>
          <a:lstStyle/>
          <a:p>
            <a:pPr algn="ctr">
              <a:defRPr sz="1000" b="1">
                <a:solidFill>
                  <a:srgbClr val="121F35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3218688"/>
            <a:ext cx="2148840" cy="32004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44968" y="3794760"/>
            <a:ext cx="2743200" cy="566928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>
              <a:defRPr sz="1100" b="0">
                <a:solidFill>
                  <a:srgbClr val="DAE4EF"/>
                </a:solidFill>
                <a:latin typeface="Aptos"/>
              </a:defRPr>
            </a:pPr>
            <a:r>
              <a:t>Adapt the rules for health, food, clubs and spaces.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5074920"/>
            <a:ext cx="8321040" cy="73152"/>
          </a:xfrm>
          <a:prstGeom prst="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 lIns="36576" rIns="36576" tIns="22860" bIns="18288" anchor="t">
            <a:spAutoFit/>
          </a:bodyPr>
          <a:lstStyle/>
          <a:p>
            <a:pPr algn="ctr">
              <a:defRPr sz="1100" b="1">
                <a:solidFill>
                  <a:srgbClr val="18AEA0"/>
                </a:solidFill>
                <a:latin typeface="Aptos"/>
              </a:defRPr>
            </a:pPr>
            <a:r>
              <a:t>OVERCROWD  •  One platform. Many campus needs.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22860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000" b="1">
                <a:solidFill>
                  <a:srgbClr val="18AEA0"/>
                </a:solidFill>
                <a:latin typeface="Aptos"/>
              </a:defRPr>
            </a:pPr>
            <a:r>
              <a:t>TEAM INTRODUCTION  /  IDEA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949440" cy="54864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3000" b="1">
                <a:solidFill>
                  <a:srgbClr val="121F35"/>
                </a:solidFill>
                <a:latin typeface="Aptos"/>
              </a:defRPr>
            </a:pPr>
            <a:r>
              <a:t>JABAZ-E-AI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98448"/>
            <a:ext cx="6583680" cy="347472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700" b="1">
                <a:solidFill>
                  <a:srgbClr val="18AEA0"/>
                </a:solidFill>
                <a:latin typeface="Aptos"/>
              </a:defRPr>
            </a:pPr>
            <a:r>
              <a:t>Our idea: OVERCROWD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737360"/>
            <a:ext cx="6492240" cy="530352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300" b="0">
                <a:solidFill>
                  <a:srgbClr val="253347"/>
                </a:solidFill>
                <a:latin typeface="Aptos"/>
              </a:defRPr>
            </a:pPr>
            <a:r>
              <a:t>A unified campus crowd-management platform that helps people understand how busy a place is and helps staff respond earlier.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713232"/>
            <a:ext cx="3611880" cy="1874519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2440" y="932688"/>
            <a:ext cx="3063240" cy="32004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1100" b="1">
                <a:solidFill>
                  <a:srgbClr val="F5BE4E"/>
                </a:solidFill>
                <a:latin typeface="Aptos"/>
              </a:defRPr>
            </a:pPr>
            <a:r>
              <a:t>ONE UMBRELLA</a:t>
            </a:r>
          </a:p>
        </p:txBody>
      </p:sp>
      <p:sp>
        <p:nvSpPr>
          <p:cNvPr id="8" name="Oval 7"/>
          <p:cNvSpPr/>
          <p:nvPr/>
        </p:nvSpPr>
        <p:spPr>
          <a:xfrm>
            <a:off x="8156448" y="1536192"/>
            <a:ext cx="384048" cy="384048"/>
          </a:xfrm>
          <a:prstGeom prst="ellipse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975104"/>
            <a:ext cx="658368" cy="22860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GYM</a:t>
            </a:r>
          </a:p>
        </p:txBody>
      </p:sp>
      <p:sp>
        <p:nvSpPr>
          <p:cNvPr id="10" name="Oval 9"/>
          <p:cNvSpPr/>
          <p:nvPr/>
        </p:nvSpPr>
        <p:spPr>
          <a:xfrm>
            <a:off x="8961120" y="1536192"/>
            <a:ext cx="384048" cy="384048"/>
          </a:xfrm>
          <a:prstGeom prst="ellipse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1392" y="1975104"/>
            <a:ext cx="658368" cy="22860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HEALTH</a:t>
            </a:r>
          </a:p>
        </p:txBody>
      </p:sp>
      <p:sp>
        <p:nvSpPr>
          <p:cNvPr id="12" name="Oval 11"/>
          <p:cNvSpPr/>
          <p:nvPr/>
        </p:nvSpPr>
        <p:spPr>
          <a:xfrm>
            <a:off x="9857232" y="1536192"/>
            <a:ext cx="384048" cy="384048"/>
          </a:xfrm>
          <a:prstGeom prst="ellipse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47504" y="1975104"/>
            <a:ext cx="658368" cy="22860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FOOD</a:t>
            </a:r>
          </a:p>
        </p:txBody>
      </p:sp>
      <p:sp>
        <p:nvSpPr>
          <p:cNvPr id="14" name="Oval 13"/>
          <p:cNvSpPr/>
          <p:nvPr/>
        </p:nvSpPr>
        <p:spPr>
          <a:xfrm>
            <a:off x="10652760" y="1536192"/>
            <a:ext cx="384048" cy="384048"/>
          </a:xfrm>
          <a:prstGeom prst="ellipse">
            <a:avLst/>
          </a:prstGeom>
          <a:solidFill>
            <a:srgbClr val="5C9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43032" y="1975104"/>
            <a:ext cx="658368" cy="22860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2743200"/>
            <a:ext cx="35204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" y="2907792"/>
            <a:ext cx="109728" cy="384048"/>
          </a:xfrm>
          <a:prstGeom prst="roundRect">
            <a:avLst/>
          </a:prstGeom>
          <a:solidFill>
            <a:srgbClr val="F470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907792"/>
            <a:ext cx="2926080" cy="32004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PROBLEM TITLE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56432"/>
            <a:ext cx="3118104" cy="155448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Campus overcrowding and unclear crowd levels</a:t>
            </a:r>
            <a:br/>
            <a:br/>
            <a:r>
              <a:t>People face long or uneven queues and often do not know which place is less busy.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743200"/>
            <a:ext cx="35204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07992" y="2907792"/>
            <a:ext cx="109728" cy="384048"/>
          </a:xfrm>
          <a:prstGeom prst="roundRect">
            <a:avLst/>
          </a:prstGeom>
          <a:solidFill>
            <a:srgbClr val="18A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8" y="2907792"/>
            <a:ext cx="2926080" cy="32004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SOLUTION SUMMARY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3456432"/>
            <a:ext cx="3118104" cy="155448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One shared view of occupancy, capacity, queues and busy periods—with clear status and timely alerts.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65008" y="2743200"/>
            <a:ext cx="352044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229600" y="2907792"/>
            <a:ext cx="109728" cy="384048"/>
          </a:xfrm>
          <a:prstGeom prst="roundRect">
            <a:avLst/>
          </a:prstGeom>
          <a:solidFill>
            <a:srgbClr val="F5B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49056" y="2907792"/>
            <a:ext cx="2926080" cy="32004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1">
                <a:solidFill>
                  <a:srgbClr val="121F35"/>
                </a:solidFill>
                <a:latin typeface="Aptos"/>
              </a:defRPr>
            </a:pPr>
            <a:r>
              <a:t>HOW IT HELPS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6" y="3456432"/>
            <a:ext cx="3118104" cy="155448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1200" b="0">
                <a:solidFill>
                  <a:srgbClr val="253347"/>
                </a:solidFill>
                <a:latin typeface="Aptos"/>
              </a:defRPr>
            </a:pPr>
            <a:r>
              <a:t>Students can make informed choices; staff can coordinate resources and manage bottlenecks earlier.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" y="5532120"/>
            <a:ext cx="10954512" cy="530352"/>
          </a:xfrm>
          <a:prstGeom prst="roundRect">
            <a:avLst/>
          </a:prstGeom>
          <a:solidFill>
            <a:srgbClr val="12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641848"/>
            <a:ext cx="10561320" cy="27432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GYM • HEALTH CENTRE • CANTEENS &amp; CLUBS • CAMPUS SPACES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19672"/>
            <a:ext cx="9601200" cy="182880"/>
          </a:xfrm>
          <a:prstGeom prst="rect">
            <a:avLst/>
          </a:prstGeom>
          <a:noFill/>
        </p:spPr>
        <p:txBody>
          <a:bodyPr wrap="square" lIns="45720" rIns="45720" tIns="22860" bIns="18288" anchor="t">
            <a:spAutoFit/>
          </a:bodyPr>
          <a:lstStyle/>
          <a:p>
            <a:pPr>
              <a:defRPr sz="900" b="0">
                <a:solidFill>
                  <a:srgbClr val="68778B"/>
                </a:solidFill>
                <a:latin typeface="Aptos"/>
              </a:defRPr>
            </a:pPr>
            <a:r>
              <a:t>OVERCROWD  •  JABAZ-E-AI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OVERCROWD — JABAZ-E-AI Team Introduction</dc:title>
  <dc:subject>Team, idea, problem title, and concise solution summary</dc:subject>
  <dc:creator>OpenAI</dc:creator>
  <cp:keywords/>
  <dc:description>Illustrative scenarios; use verified campus data for real deployment.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